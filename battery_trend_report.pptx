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Battery Trend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Latest Issues &amp; Trends</a:t>
            </a:r>
          </a:p>
          <a:p>
            <a:r>
              <a:t>Generated by AI Reporter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리튬의 독주를 위협하는 게임체인저, '나트륨 이온 배터리'의 부상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최근 전기차(EV)와 에너지 저장 장치(ESS)의 폭발적인 수요 증가에 따라, 기존 리튬이온 배터리의 수급 불안정과 가격 변동성을 해소할 강력한 대항마로 나트륨 이온 배터리가 급부상하고 있습니다12.</a:t>
            </a:r>
          </a:p>
          <a:p>
            <a:pPr>
              <a:defRPr sz="1400"/>
            </a:pPr>
            <a:r>
              <a:t>나트륨은 리튬 대비 매장량이 월등히 풍부하고 지구상 어디에서나 쉽게 구할 수 있어, 배터리 제조 원가를 획기적으로 낮출 수 있는 확실한 경제적 강점을 보유하고 있습니다2.</a:t>
            </a:r>
          </a:p>
          <a:p>
            <a:pPr>
              <a:defRPr sz="1400"/>
            </a:pPr>
            <a:r>
              <a:t>그동안 리튬이온 배터리에 비해 약점으로 지적되던 낮은 에너지 밀도 문제를 최신 소재 기술로 보완하며, 상용화 가능성이 비약적으로 높아져 시장의 판도를 흔들고 있습니다2.</a:t>
            </a:r>
          </a:p>
          <a:p>
            <a:pPr>
              <a:defRPr sz="1400"/>
            </a:pPr>
            <a:r>
              <a:t>특정 국가에 편중된 리튬 공급망 의존도를 낮출 수 있어, 자원 안보 측면에서도 전략적인 가치가 매우 높은 대안 기술로 평가받습니다1.</a:t>
            </a:r>
          </a:p>
          <a:p>
            <a:pPr>
              <a:defRPr sz="1400"/>
            </a:pPr>
            <a:r>
              <a:t>저가형 보급형 전기차 및 대규모 ESS 시장을 중심으로 초기 시장이 형성되고 있으며, 향후 리튬 배터리와 시장을 양분하는 '투 트랙(Two-track)' 체제를 구축할 것으로 전망됩니다2.</a:t>
            </a:r>
          </a:p>
          <a:p>
            <a:pPr>
              <a:defRPr sz="1400"/>
            </a:pPr>
            <a:r>
              <a:t>배터리 업계는 나트륨 배터리를 통해 원자재 리스크를 헤징(Hedging)하고, 가격 경쟁력을 확보하여 '전기차 캐즘(Chasm)'을 돌파할 새로운 성장 동력으로 삼고 있습니다3.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KAIST 혁신 기술, 전고체 배터리의 '비용 장벽'을 허물다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'꿈의 배터리'라 불리는 전고체 배터리의 상용화를 가로막던 가장 큰 걸림돌인 비싼 소재 가격과 복잡한 공정 문제가 2026년 1월, 국내 연구진에 의해 해결되었습니다4.</a:t>
            </a:r>
          </a:p>
          <a:p>
            <a:pPr>
              <a:defRPr sz="1400"/>
            </a:pPr>
            <a:r>
              <a:t>KAIST 연구진은 값비싼 희귀 금속을 사용하지 않고도 고체 전해질의 원자 구조를 정밀하게 재배열하는 혁신적인 설계 원리를 개발하여 비용 절감의 길을 열었습니다4.</a:t>
            </a:r>
          </a:p>
          <a:p>
            <a:pPr>
              <a:defRPr sz="1400"/>
            </a:pPr>
            <a:r>
              <a:t>이 기술은 리튬 이온의 이동성을 획기적으로 높여 배터리의 성능과 수명을 향상시키는 동시에, 제조 비용을 대폭 절감하여 가격 경쟁력까지 확보하는 성과를 거두었습니다45.</a:t>
            </a:r>
          </a:p>
          <a:p>
            <a:pPr>
              <a:defRPr sz="1400"/>
            </a:pPr>
            <a:r>
              <a:t>화재와 폭발 위험이 원천적으로 차단된 높은 안전성을 유지하면서도 경제성까지 갖추게 되어, 전고체 배터리가 실험실을 넘어 양산 단계로 진입하는 결정적 계기가 마련되었습니다4.</a:t>
            </a:r>
          </a:p>
          <a:p>
            <a:pPr>
              <a:defRPr sz="1400"/>
            </a:pPr>
            <a:r>
              <a:t>기존 리튬이온 배터리의 구조적 한계를 뛰어넘는 이러한 기술 혁신은 한국 배터리 산업이 글로벌 초격차 기술 경쟁력을 유지하는 핵심 동력이 될 것입니다5.</a:t>
            </a:r>
          </a:p>
          <a:p>
            <a:pPr>
              <a:defRPr sz="1400"/>
            </a:pPr>
            <a:r>
              <a:t>2026년을 기점으로 완성차 업체들의 전고체 배터리 채택 논의가 가속화될 것이며, 이는 전기차 안전성에 대한 소비자의 신뢰를 회복하는 게임체인저가 될 전망입니다46.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배터리 영토의 무한 확장: Beyond Batteries, Powering 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'인터배터리 2026'과 '국제 배터리 엑스포 2025'의 핵심 화두는 배터리 적용 분야가 전기차를 넘어 육·해·공을 아우르는 미래 모빌리티 전반으로 확장된다는 점입니다7....</a:t>
            </a:r>
          </a:p>
          <a:p>
            <a:pPr>
              <a:defRPr sz="1400"/>
            </a:pPr>
            <a:r>
              <a:t>도심항공교통(UAM)의 상용화 임박과 친환경 전기 선박의 수요 증가는 고출력·고용량·경량화 배터리에 대한 새로운 기술적 요구를 창출하고 있습니다8.</a:t>
            </a:r>
          </a:p>
          <a:p>
            <a:pPr>
              <a:defRPr sz="1400"/>
            </a:pPr>
            <a:r>
              <a:t>단순한 에너지 저장 장치를 넘어 로봇 산업 및 AI(인공지능) 데이터 센터의 전력 효율화 솔루션과 결합하며 4차 산업혁명의 심장으로 진화하고 있습니다9.</a:t>
            </a:r>
          </a:p>
          <a:p>
            <a:pPr>
              <a:defRPr sz="1400"/>
            </a:pPr>
            <a:r>
              <a:t>"Beyond Batteries, Powering Tomorrow(배터리를 넘어, 미래를 이끌다)"라는 슬로건은 배터리 산업이 단순 제조업에서 미래 에너지 플랫폼 사업으로 패러다임을 전환하고 있음을 시사합니다9.</a:t>
            </a:r>
          </a:p>
          <a:p>
            <a:pPr>
              <a:defRPr sz="1400"/>
            </a:pPr>
            <a:r>
              <a:t>이러한 응용처의 다변화는 특정 산업(전기차)의 불황에도 견딜 수 있는 안정적인 수익 구조를 만들고, 지속 가능한 성장을 가능하게 하는 기반이 됩니다3.</a:t>
            </a:r>
          </a:p>
          <a:p>
            <a:pPr>
              <a:defRPr sz="1400"/>
            </a:pPr>
            <a:r>
              <a:t>주요 배터리 기업들은 UAM용 특수 배터리, 선박용 대용량 패키징 기술 등 폼팩터 다양화를 통해 신규 시장(Blue Ocean)을 선점하기 위해 치열하게 경쟁하고 있습니다8.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글로벌 정책 리스크 대응과 밸류체인(Value Chain)의 재편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EU의 2035년 내연기관차 판매 금지 조치 확정 및 미국의 자국 공급망 강화 정책은 배터리 산업에 강력한 무역 장벽이자 동시에 기회로 작용하고 있습니다610.</a:t>
            </a:r>
          </a:p>
          <a:p>
            <a:pPr>
              <a:defRPr sz="1400"/>
            </a:pPr>
            <a:r>
              <a:t>특히 유럽의 폐배터리 재활용 의무화 조치는 배터리 생애주기 전체를 관리하는 기술과 시스템을 갖춘 기업만이 시장에서 생존할 수 있음을 의미합니다6.</a:t>
            </a:r>
          </a:p>
          <a:p>
            <a:pPr>
              <a:defRPr sz="1400"/>
            </a:pPr>
            <a:r>
              <a:t>국내 환경부의 보조금 정책 개편과 중국산 LFP(리튬인산철) 배터리에 대한 견제 움직임은 국내 기업들에게 기술적 차별화와 가격 경쟁력 확보를 동시에 요구하고 있습니다10.</a:t>
            </a:r>
          </a:p>
          <a:p>
            <a:pPr>
              <a:defRPr sz="1400"/>
            </a:pPr>
            <a:r>
              <a:t>이에 따라 기업들은 단순한 셀 제조를 넘어 광물 채굴, 제련, 소재 생산, 그리고 폐배터리 리사이클링(Recycling)까지 이어지는 수직 계열화된 밸류체인 구축에 사활을 걸고 있습니다611.</a:t>
            </a:r>
          </a:p>
          <a:p>
            <a:pPr>
              <a:defRPr sz="1400"/>
            </a:pPr>
            <a:r>
              <a:t>글로벌 공급망 이슈에 대응하기 위해 해외 현지 생산 거점을 확대하고, 전략적 파트너십을 통해 원자재 수급의 안정성을 확보하는 것이 필수 생존 전략이 되었습니다6.</a:t>
            </a:r>
          </a:p>
          <a:p>
            <a:pPr>
              <a:defRPr sz="1400"/>
            </a:pPr>
            <a:r>
              <a:t>재활용 기술의 고도화는 원자재 가격 변동성에 대한 방어 기제 역할을 하며, 향후 배터리 기업의 수익성과 ESG 경영을 결정짓는 핵심 지표가 될 것입니다11.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