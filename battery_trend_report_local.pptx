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⚡ 2차전지 업계 동향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ACC"/>
                </a:solidFill>
                <a:latin typeface="맑은 고딕"/>
              </a:defRPr>
            </a:pPr>
            <a:r>
              <a:t>Battery Industry Weekly Trend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작성일: 2026년 04월 18일  |  AI 분석 리포트 (Powered by Gemini)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5029200"/>
            <a:ext cx="8229600" cy="2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맑은 고딕"/>
              </a:defRPr>
            </a:pPr>
            <a:r>
              <a:t>Issue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600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맑은 고딕"/>
              </a:defRPr>
            </a:pPr>
            <a:r>
              <a:t>KAIST 혁신 기술과 세라믹, 전고체 배터리 양산 공정의 한계를 돌파하다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2026년 1월, KAIST 연구진이 값비싼 금속 없이 전해질의 원자 구조를 정밀하게 재배열하는 혁신적인 '저비용' 전고체 배터리 설계 원리를 제시했습니다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기존 전고체 배터리는 비싼 소재뿐만 아니라 지나치게 복잡한 공정이 상용화의 가장 큰 걸림돌이었습니다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최근 세라믹 소재가 공정에 도입되며 전고체 배터리 양산의 '마지막 장벽'을 허물고 있다는 평가를 받으며 양산 장비 업계에 큰 반향을 일으키고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복잡한 공정을 단순화하고 제조 비용을 대폭 절감하는 방향으로 기술이 진보함에 따라, 차세대 특화 장비 수요가 폭발적으로 증가할 조짐을 보이고 있습니다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63055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2026년은 전고체 배터리가 실험실 수준의 R&amp;D 장비를 넘어 실질적인 대량 양산(Mass-production) 라인 구축이 구체화되는 원년이 될 것입니다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5105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8579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20547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09360"/>
            <a:ext cx="10972800" cy="1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86B"/>
                </a:solidFill>
                <a:latin typeface="맑은 고딕"/>
              </a:defRPr>
            </a:pPr>
            <a:r>
              <a:t>Issue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60000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맑은 고딕"/>
              </a:defRPr>
            </a:pPr>
            <a:r>
              <a:t>소재 다변화의 핵심, 배터리 '분체(Powder)' 및 '복합소재' 공정 설비의 급부상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전지 소재 기술이 고도화됨에 따라, 미세한 입자를 균일하게 분쇄하고 혼합하는 정밀 분체 공정이 양산 수율을 결정짓는 핵심 지표로 떠올랐습니다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'2026 국제화학장치·공정기술전'의 핵심 테마로 '배터리 분체 시장 집중'이 꼽히며 정밀 소재 가공 장비 시장의 중요성이 크게 부각되고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또한 'JEC WORLD 2026'에서도 배터리 복합소재 전략이 주요 화두로 떠오르며, 경량화와 안전성을 충족하기 위한 특수 장비의 필요성이 급증했습니다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단순 조립 장비를 넘어, 나노 단위로 입자를 제어하는 정밀 믹싱 및 코팅 장비 기업들의 시장 가치가 재평가받고 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63055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5105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정밀 분체 솔루션을 턴키(Turn-key)로 제공하여 불량률을 최소화하는 공정 장비 업체들의 글로벌 시장 지배력이 더욱 강화될 전망입니다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8579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20547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09360"/>
            <a:ext cx="10972800" cy="1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맑은 고딕"/>
              </a:defRPr>
            </a:pPr>
            <a:r>
              <a:t>Issue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600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맑은 고딕"/>
              </a:defRPr>
            </a:pPr>
            <a:r>
              <a:t>K-배터리의 새 돌파구 '46XX 원통형 폼팩터', 양산 설비 지각변동을 이끌다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K-배터리의 새로운 돌파구로 지름 46mm 크기의 '46XX 원통형 배터리'가 강력하게 대두되며 설비 업계의 대대적인 전환을 이끌고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전기차 원가를 낮추면서 단일 셀의 출력과 에너지 밀도를 극대화하려는 완성차 업체들의 강한 요구에 맞춰, 배터리 제조사들이 생산 라인을 전면 재구축하고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규격이 커진 원통형 배터리 생산을 위해 권취(Winding), 조립, 용접, 화성 공정 장비 전반에 걸친 대대적인 설비 업그레이드가 진행 중입니다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늘어난 폼팩터의 특성을 감당하기 위해 고출력 정밀 레이저 용접 장비 등 특정 조립 설비 분야에서 대규모 교체 수요가 발생하고 있습니다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46XX 배터리 양산 수율을 가장 먼저 안정화하는 설비 기술력이 향후 장비 업계 내 강력한 경쟁력(경제적 해자)을 구축할 것입니다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63055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5105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8579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09360"/>
            <a:ext cx="10972800" cy="1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맑은 고딕"/>
              </a:defRPr>
            </a:pPr>
            <a:r>
              <a:t>Issue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6000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맑은 고딕"/>
              </a:defRPr>
            </a:pPr>
            <a:r>
              <a:t>고성능 신소재(실리콘·농도경사형) 양산 최적화, 특수 제조 장비의 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충전 시 부피가 크게 팽창하는 실리콘 음극의 치명적 한계를 극복하기 위해, 그래핀을 결합해 수명과 용량을 대폭 늘리는 획기적인 기술이 상용화 단계를 밟고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배터리 사용 중 발생하는 균열과 화재 등 안전 문제를 원천 차단하기 위해, 입자 내부와 외부의 농도를 다르게 제어하는 농도 경사형 양극재 혁신 기술이 본격 도입되고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more_horiz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이러한 첨단 신소재 기술을 실제 양산 라인에 구현하기 위해서는 기존의 단순 습식 공정을 넘어서는 고도의 특수 합성 및 코팅 설비가 필수적입니다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이에 따라 첨단 열처리, 진공 코팅, 그리고 미세 구조 제어 장비에 대한 글로벌 배터리 제조사들의 러브콜이 이어지고 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15583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63055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more_horiz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5105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8579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실험실에서 증명된 혁신 소재 기술을 양산 수율 저하 없이 완벽하게 대량 생산해 내는 특수 장비 확보가 향후 업계의 가장 높은 진입장벽이 될 것입니다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20547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55294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9004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8247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이 외에 추가적으로 다루고 싶은 설비나 폼팩터 동향이 있다면 편하게 말씀해 주시겠습니까?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09360"/>
            <a:ext cx="10972800" cy="1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본 리포트는 AI가 자동 수집·분석한 데이터를 기반으로 작성되었습니다.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06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ACC"/>
                </a:solidFill>
                <a:latin typeface="맑은 고딕"/>
              </a:defRPr>
            </a:pPr>
            <a:r>
              <a:t>Battery Trend Reporter  |  2026.04.18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